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0"/>
            <a:ext cx="2331720" cy="384048"/>
          </a:xfrm>
          <a:prstGeom prst="roundRect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Integrated Cost Cockpit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8CC63F"/>
                </a:solidFill>
                <a:latin typeface="Arial"/>
              </a:rPr>
              <a:t>MPI Budget Cockpit </a:t>
            </a:r>
            <a:r>
              <a:rPr sz="2300" b="1">
                <a:solidFill>
                  <a:srgbClr val="0067B1"/>
                </a:solidFill>
                <a:latin typeface="Arial"/>
              </a:rPr>
              <a:t>| Zero-based budgeting that benchmarks spending to best-in-fleet — down to PO level (L5), pinpointing inefficiencies and surfacing savings</a:t>
            </a:r>
          </a:p>
        </p:txBody>
      </p:sp>
      <p:sp>
        <p:nvSpPr>
          <p:cNvPr id="4" name="Oval 3"/>
          <p:cNvSpPr/>
          <p:nvPr/>
        </p:nvSpPr>
        <p:spPr>
          <a:xfrm>
            <a:off x="11018520" y="109728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D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D2B39"/>
                </a:solidFill>
                <a:latin typeface="Arial"/>
              </a:rPr>
              <a:t>MΣ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713232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D2B39"/>
                </a:solidFill>
                <a:latin typeface="Arial"/>
              </a:rPr>
              <a:t>MedcoEnergi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067B1"/>
                </a:solidFill>
                <a:latin typeface="Arial"/>
              </a:rPr>
              <a:t>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274552" cy="54864"/>
          </a:xfrm>
          <a:prstGeom prst="rect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5293B"/>
                </a:solidFill>
                <a:latin typeface="Arial"/>
              </a:rPr>
              <a:t>MPI Budget Cockpit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D6B78"/>
                </a:solidFill>
                <a:latin typeface="Arial"/>
              </a:rPr>
              <a:t>Zero-based budgeting, benchmarked to best. A cost cockpit that benchmarks controllable O&amp;M across every asset down to PO level (L5) — pinpointing inefficiencies and surfacing savings in one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67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293B"/>
                </a:solidFill>
                <a:latin typeface="Arial"/>
              </a:rPr>
              <a:t>Key Features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730752"/>
            <a:ext cx="301752" cy="301752"/>
          </a:xfrm>
          <a:prstGeom prst="ellipse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94176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300" b="1">
                <a:solidFill>
                  <a:srgbClr val="0067B1"/>
                </a:solidFill>
                <a:latin typeface="Arial"/>
              </a:rPr>
              <a:t>Asset Cost Scorecard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5D6B78"/>
                </a:solidFill>
                <a:latin typeface="Arial"/>
              </a:rPr>
              <a:t>A card per asset: cost intensity ($/kW-yr), total controllable spend, and whether it leads the fleet or has money at stake.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229100"/>
            <a:ext cx="301752" cy="301752"/>
          </a:xfrm>
          <a:prstGeom prst="ellipse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9252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300" b="1">
                <a:solidFill>
                  <a:srgbClr val="0067B1"/>
                </a:solidFill>
                <a:latin typeface="Arial"/>
              </a:rPr>
              <a:t>3-Way Benchmark Matrix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5D6B78"/>
                </a:solidFill>
                <a:latin typeface="Arial"/>
              </a:rPr>
              <a:t>Every cost line compared across assets and against best-in-fleet, the external market, and like-for-like (size-normalized) — with an accountable owner named on every line.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727448"/>
            <a:ext cx="301752" cy="301752"/>
          </a:xfrm>
          <a:prstGeom prst="ellipse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90872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300" b="1">
                <a:solidFill>
                  <a:srgbClr val="0067B1"/>
                </a:solidFill>
                <a:latin typeface="Arial"/>
              </a:rPr>
              <a:t>Savings Simulator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5D6B78"/>
                </a:solidFill>
                <a:latin typeface="Arial"/>
              </a:rPr>
              <a:t>Dial how aggressively to close the gap and see the efficiency prize benchmarked three ways at once — best plant, external market, and the stretch frontier.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225796"/>
            <a:ext cx="301752" cy="301752"/>
          </a:xfrm>
          <a:prstGeom prst="ellipse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1892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300" b="1">
                <a:solidFill>
                  <a:srgbClr val="0067B1"/>
                </a:solidFill>
                <a:latin typeface="Arial"/>
              </a:rPr>
              <a:t>Prioritized Recommendations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5D6B78"/>
                </a:solidFill>
                <a:latin typeface="Arial"/>
              </a:rPr>
              <a:t>Automatically ranks the biggest savings opportunities and pre-drafts a challenge memo for each cost owner — every figure cited, the decision yours.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724144"/>
            <a:ext cx="301752" cy="301752"/>
          </a:xfrm>
          <a:prstGeom prst="ellipse">
            <a:avLst/>
          </a:prstGeom>
          <a:solidFill>
            <a:srgbClr val="00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5687568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300" b="1">
                <a:solidFill>
                  <a:srgbClr val="0067B1"/>
                </a:solidFill>
                <a:latin typeface="Arial"/>
              </a:rPr>
              <a:t>Drill-Down Workflow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5D6B78"/>
                </a:solidFill>
                <a:latin typeface="Arial"/>
              </a:rPr>
              <a:t>Trace any gap from fleet level to its root, L3 to L5 per asset, then straight into a board-ready challenge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5532120" cy="566928"/>
          </a:xfrm>
          <a:prstGeom prst="roundRect">
            <a:avLst/>
          </a:prstGeom>
          <a:solidFill>
            <a:srgbClr val="ECF7F4"/>
          </a:solidFill>
          <a:ln w="12700">
            <a:solidFill>
              <a:srgbClr val="9ED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200" b="1">
                <a:solidFill>
                  <a:srgbClr val="00A6A6"/>
                </a:solidFill>
                <a:latin typeface="Arial"/>
              </a:rPr>
              <a:t>◇  </a:t>
            </a:r>
            <a:r>
              <a:rPr sz="1100" b="1">
                <a:solidFill>
                  <a:srgbClr val="15293B"/>
                </a:solidFill>
                <a:latin typeface="Arial"/>
              </a:rPr>
              <a:t>Analyst-grade &amp; auditable — </a:t>
            </a:r>
            <a:r>
              <a:rPr sz="1050" b="0">
                <a:solidFill>
                  <a:srgbClr val="5D6B78"/>
                </a:solidFill>
                <a:latin typeface="Arial"/>
              </a:rPr>
              <a:t>every figure traces to its source line; benchmarks span best-in-fleet, the external market, and like-for-like.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1993392"/>
            <a:ext cx="1737360" cy="457200"/>
          </a:xfrm>
          <a:prstGeom prst="round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3A00"/>
                </a:solidFill>
                <a:latin typeface="Arial"/>
              </a:rPr>
              <a:t>POC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697480"/>
            <a:ext cx="5532120" cy="3291840"/>
          </a:xfrm>
          <a:prstGeom prst="roundRect">
            <a:avLst/>
          </a:prstGeom>
          <a:solidFill>
            <a:srgbClr val="1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ot-cross.png"/>
          <p:cNvPicPr>
            <a:picLocks noChangeAspect="1"/>
          </p:cNvPicPr>
          <p:nvPr/>
        </p:nvPicPr>
        <p:blipFill>
          <a:blip r:embed="rId2"/>
          <a:srcRect b="47000"/>
          <a:stretch>
            <a:fillRect/>
          </a:stretch>
        </p:blipFill>
        <p:spPr>
          <a:xfrm>
            <a:off x="6464808" y="2807208"/>
            <a:ext cx="5312664" cy="30723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45566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D6B78"/>
                </a:solidFill>
                <a:latin typeface="Arial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>
                <a:solidFill>
                  <a:srgbClr val="0067B1"/>
                </a:solidFill>
                <a:latin typeface="Arial"/>
              </a:rPr>
              <a:t>Progress. </a:t>
            </a:r>
            <a:r>
              <a:rPr sz="1800" b="1">
                <a:solidFill>
                  <a:srgbClr val="6FA82E"/>
                </a:solidFill>
                <a:latin typeface="Arial"/>
              </a:rPr>
              <a:t>Growth. </a:t>
            </a:r>
            <a:r>
              <a:rPr sz="1800" b="1">
                <a:solidFill>
                  <a:srgbClr val="00A6A6"/>
                </a:solidFill>
                <a:latin typeface="Arial"/>
              </a:rPr>
              <a:t>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